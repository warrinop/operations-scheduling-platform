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 faculty and peers. We present Group H's Software Engineering project: Agentic Operations and Dynamic Scheduling Platform for Field Services, developed under the supervision of Sourav Akib Sarkar.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field operations, over 60% of time is wasted due to fragmented communication. Double bookings, customer no-shows after travel, blind dispatching, and manual revenue leakage are the 4 core problems we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connects three dedicated portals into a synchronized real-time system: Customer booking with deposits, Operations Dispatch Kanban, and Field Technician mobile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SRS, we define 3 human login personas and 1 automated system actor: the AI Scheduling Agent that autonomously evaluates calendar states, enforces race condition locks, and settles invoices.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adopted the Scrum framework to build this system iteratively. Product backlog items were derived directly from SRS requirements and delivered in 4 two-week sprint increments.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Sprint 1 through 4, we transitioned from database architecture to slot calculations, then to the dispatch Kanban and mobile portal, and finally to automated CRM alerts, invoicing, and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slot engine evaluates operating hours and service duration with a 15-minute buffer. Transactional locks prevent double bookings, and the 20% deposit secures customer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state engine enforces strict linear progression: Pending, Scheduled, En Route, In Progress, Completed, Billed. Illegal state jumps are strictly rejected by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Dispatchers assign technicians matching service skills and location zones. Technicians execute jobs on their mobile portal with task switching, on-site timer, and client signature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CRM webhook engine sends live SMS updates. Upon signature capture, tax invoices are auto-generated and operational analytics track gross pipeline revenue and technician utilization.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will switch to our live browser window at localhost:3000 to demonstrate the full 5-step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is built with Next.js 14, TypeScript, and TailwindCSS. The production build passed with zero errors across all 12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our platform successfully achieves all goals set out in our SRS. Thank you, and we now welcome any questions from the honorable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754880" cy="384048"/>
          </a:xfrm>
          <a:prstGeom prst="roundRect">
            <a:avLst/>
          </a:prstGeom>
          <a:solidFill>
            <a:srgbClr val="1D273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AIUB • SOFTWARE ENGINEERING (SECTION: DD • GROUP: 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Agentic Operations &amp; Dynamic</a:t>
            </a:r>
            <a:br/>
            <a:r>
              <a:t>Scheduling Platform for Field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8BDF8"/>
                </a:solidFill>
              </a:defRPr>
            </a:pPr>
            <a:r>
              <a:t>Eliminating Double-Bookings, Customer No-Shows &amp; Revenue Leakage via Deterministic State Machine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4114800" cy="18288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SUPERVISED BY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Sourav Akib Sarkar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Faculty of Science &amp; Technology</a:t>
            </a:r>
            <a:br/>
            <a:r>
              <a:t>Department of Computer Science, AIUB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297680"/>
            <a:ext cx="6309360" cy="18288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DEVELOPMENT TEAM (GROUP H)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1. Abrar Tajwar Khan (24-57356-2)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2. Ahmed Aahan Addin (24-57325-2)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3. Lasker Sifwat Hossein (24-57368-2)</a:t>
            </a:r>
          </a:p>
          <a:p>
            <a:pPr>
              <a:spcBef>
                <a:spcPts val="200"/>
              </a:spcBef>
              <a:defRPr sz="1100">
                <a:solidFill>
                  <a:srgbClr val="F1F5F9"/>
                </a:solidFill>
              </a:defRPr>
            </a:pPr>
            <a:r>
              <a:t>4. Sadnan Shahad (24-57524-2)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Real-World Operational Dilemma in Field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defRPr sz="950" b="1">
                <a:solidFill>
                  <a:srgbClr val="FB7185"/>
                </a:solidFill>
              </a:defRPr>
            </a:pPr>
            <a:r>
              <a:t>PROBLEM 01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Double-Booking &amp; Scheduling Collisions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Manual phone calls &amp; Excel sheets cause simultaneous overlapping customer bookings, unoptimized schedule gaps, and technician idle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PROBLEM 02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High Customer No-Show Rates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Without upfront financial commitment, customers cancel last-minute after technicians spend over an hour traveling through Dhaka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PROBLEM 03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Blind Resource Dispatching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Operations managers lack real-time visibility into technician skill specialties, active availability, and geographic zone buffers.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defRPr sz="950" b="1">
                <a:solidFill>
                  <a:srgbClr val="C084FC"/>
                </a:solidFill>
              </a:defRPr>
            </a:pPr>
            <a:r>
              <a:t>PROBLEM 04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Manual Revenue Leakage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Delayed paper billing, unrecorded cash balances, and lack of verifiable proof-of-work lead to disputed invoices and lost revenue.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Solution: 3 Portals + 1 Autonomous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/book • /track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Customer Portal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• Dynamic 30-min slot calendar</a:t>
            </a:r>
            <a:br/>
            <a:r>
              <a:t>• 15-minute travel buffers</a:t>
            </a:r>
            <a:br/>
            <a:r>
              <a:t>• 20% upfront deposit checkout (bKash/Nagad)</a:t>
            </a:r>
            <a:br/>
            <a:r>
              <a:t>• Real-time progress &amp; SMS notification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950" b="1">
                <a:solidFill>
                  <a:srgbClr val="C084FC"/>
                </a:solidFill>
              </a:defRPr>
            </a:pPr>
            <a:r>
              <a:t>/admin/dispatch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Operations Dispatcher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• 6-Column Kanban visual pipeline</a:t>
            </a:r>
            <a:br/>
            <a:r>
              <a:t>• Skill-based staff allocation</a:t>
            </a:r>
            <a:br/>
            <a:r>
              <a:t>• Dhaka zone proximity matching</a:t>
            </a:r>
            <a:br/>
            <a:r>
              <a:t>• Concurrency lock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/tech/active-job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Field Technician Portal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• 390px responsive mobile layout</a:t>
            </a:r>
            <a:br/>
            <a:r>
              <a:t>• Top numbered task switcher</a:t>
            </a:r>
            <a:br/>
            <a:r>
              <a:t>• Live on-site work duration stopwatch</a:t>
            </a:r>
            <a:br/>
            <a:r>
              <a:t>• HTML5 digital client signature sign-off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ACTORS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Actors &amp; Role Responsibilities (SRS Alignment)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01168" rIns="27432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HUMAN ACTOR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Customer (Tanvir Ahmed)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Initiates service requests (UC-01)</a:t>
            </a:r>
            <a:br/>
            <a:r>
              <a:t>• Pays upfront deposit online (US-02)</a:t>
            </a:r>
            <a:br/>
            <a:r>
              <a:t>• Tracks real-time status &amp; ETA (UC-02)</a:t>
            </a:r>
            <a:br/>
            <a:r>
              <a:t>• Accesses historical receipts (UC-03)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01168" rIns="27432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HUMAN ACTOR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Field Technician (Kazi Shakil)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Receives assigned tasks on mobile</a:t>
            </a:r>
            <a:br/>
            <a:r>
              <a:t>• Advances linear states (UC-06)</a:t>
            </a:r>
            <a:br/>
            <a:r>
              <a:t>• Navigates &amp; runs work timer</a:t>
            </a:r>
            <a:br/>
            <a:r>
              <a:t>• Collects digital sign-offs (NFR-04)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01168" rIns="274320"/>
          <a:lstStyle/>
          <a:p>
            <a:pPr algn="ctr">
              <a:defRPr sz="950" b="1">
                <a:solidFill>
                  <a:srgbClr val="C084FC"/>
                </a:solidFill>
              </a:defRPr>
            </a:pPr>
            <a:r>
              <a:t>HUMAN ACTOR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Admin / Dispatcher (Tajwar Hossain)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Matches staff by skill &amp; zone (UC-05)</a:t>
            </a:r>
            <a:br/>
            <a:r>
              <a:t>• Manages Kanban pipeline (US-05)</a:t>
            </a:r>
            <a:br/>
            <a:r>
              <a:t>• Inspects tax invoices &amp; revenue (UC-08)</a:t>
            </a:r>
            <a:br/>
            <a:r>
              <a:t>• Monitors productivity &amp; CSAT (UC-09)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166360" cy="205740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01168" rIns="27432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SYSTEM ACTOR (4th)</a:t>
            </a:r>
          </a:p>
          <a:p>
            <a:pPr>
              <a:spcBef>
                <a:spcPts val="300"/>
              </a:spcBef>
              <a:defRPr sz="1350" b="1">
                <a:solidFill>
                  <a:srgbClr val="FFFFFF"/>
                </a:solidFill>
              </a:defRPr>
            </a:pPr>
            <a:r>
              <a:t>AI Scheduling Agent (System Worker)</a:t>
            </a:r>
          </a:p>
          <a:p>
            <a:pPr>
              <a:spcBef>
                <a:spcPts val="500"/>
              </a:spcBef>
              <a:defRPr sz="1000">
                <a:solidFill>
                  <a:srgbClr val="F1F5F9"/>
                </a:solidFill>
              </a:defRPr>
            </a:pPr>
            <a:r>
              <a:t>• Computes conflict-free slots (UC-04)</a:t>
            </a:r>
            <a:br/>
            <a:r>
              <a:t>• Enforces concurrency locks (FR-03)</a:t>
            </a:r>
            <a:br/>
            <a:r>
              <a:t>• Dispatches CRM webhook alerts (UC-07)</a:t>
            </a:r>
            <a:br/>
            <a:r>
              <a:t>• Auto-settles final tax invoices (FR-07)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Software Engineering Methodology: Agile Scrum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5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Why Scrum?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Iterative delivery across 4 sprints, continuous requirement traceability against SRS-2, and frequent UI/UX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Product Backlog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Structured user stories directly mapped to functional requirements FR-01 through FR-08 with clear acceptance criteria.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2000" b="1">
                <a:solidFill>
                  <a:srgbClr val="C084FC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Sprint Ceremonies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Conducted bi-weekly Sprint Planning, daily peer standups, sprint reviews, and retrospective code audits.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Quality &amp; Burndown</a:t>
            </a:r>
          </a:p>
          <a:p>
            <a:pPr>
              <a:spcBef>
                <a:spcPts val="1200"/>
              </a:spcBef>
              <a:defRPr sz="1100">
                <a:solidFill>
                  <a:srgbClr val="F1F5F9"/>
                </a:solidFill>
              </a:defRPr>
            </a:pPr>
            <a:r>
              <a:t>Monitored velocity, enforced zero build/lint errors (npm run build), and validated 100% route health.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SCRUM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4-Sprint Incremental Lifecycle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6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Sprint 1 (Weeks 1-2)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Architecture &amp; Database Foundations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SRS requirements analysis &amp; schema DDL</a:t>
            </a:r>
            <a:br/>
            <a:r>
              <a:t>• RoleGuard RBAC &amp; unified login portal</a:t>
            </a:r>
            <a:br/>
            <a:r>
              <a:t>• Next.js 14 App Router + Tailwind setup</a:t>
            </a:r>
            <a:br/>
            <a:r>
              <a:t>• PostgreSQL seed data &amp; state schemas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Sprint 2 (Weeks 3-4)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Dynamic Slot Engine &amp; Booking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Pure TypeScript slot algorithm (scheduling.ts)</a:t>
            </a:r>
            <a:br/>
            <a:r>
              <a:t>• 30-min window evaluation &amp; 15-min buffers</a:t>
            </a:r>
            <a:br/>
            <a:r>
              <a:t>• 3-Step booking wizard with 20% deposit</a:t>
            </a:r>
            <a:br/>
            <a:r>
              <a:t>• Concurrency locking badge (FR-03)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Sprint 3 (Weeks 5-6)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Finite State Machine &amp; Mobile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Strict linear FSM engine (state-machine.ts)</a:t>
            </a:r>
            <a:br/>
            <a:r>
              <a:t>• 6-Column Operations Dispatch Kanban</a:t>
            </a:r>
            <a:br/>
            <a:r>
              <a:t>• Skill-based staff assignment &amp; Dhaka zones</a:t>
            </a:r>
            <a:br/>
            <a:r>
              <a:t>• 390px Mobile portal + Signature pad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 rIns="182880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Sprint 4 (Weeks 7-8)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CRM Webhooks &amp; Analytics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Automated CRM SMS/WhatsApp alert stream</a:t>
            </a:r>
            <a:br/>
            <a:r>
              <a:t>• Autonomous tax invoicing modal (INV-...)</a:t>
            </a:r>
            <a:br/>
            <a:r>
              <a:t>• Revenue &amp; Technician Productivity metrics</a:t>
            </a:r>
            <a:br/>
            <a:r>
              <a:t>• Production build verification (npm run build)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Feature 1: Intelligent Dynamic Slot Engine &amp; Concurrency Locking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7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Algorithmic Slot Calculation (FR-02)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Operates over business hours: 8:00 AM – 6:00 PM</a:t>
            </a:r>
            <a:br/>
            <a:r>
              <a:t>• Generates 30-minute start time candidates</a:t>
            </a:r>
            <a:br/>
            <a:r>
              <a:t>• Evaluates exact service duration (45 to 180 mins)</a:t>
            </a:r>
            <a:br/>
            <a:r>
              <a:t>• Appends mandatory 15-minute travel &amp; prep buffer</a:t>
            </a:r>
            <a:br/>
            <a:r>
              <a:t>• Filters past slots dynamically for same-day bookings</a:t>
            </a:r>
            <a:br/>
            <a:r>
              <a:t>• Matches technician capacity in real-time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Concurrency Locking &amp; Deposit (FR-03, FR-06)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Overlap Condition: (Start &lt; BookEnd) AND (End &gt; BookStart)</a:t>
            </a:r>
            <a:br/>
            <a:r>
              <a:t>• Database transactional locking eliminates double-booking collisions</a:t>
            </a:r>
            <a:br/>
            <a:r>
              <a:t>• 20% Upfront Deposit Gateway (bKash / Nagad / Card)</a:t>
            </a:r>
            <a:br/>
            <a:r>
              <a:t>• Eliminates customer no-shows through financial commitment</a:t>
            </a:r>
            <a:br/>
            <a:r>
              <a:t>• Creates immutable booking record in 'Pending' state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Feature 2: Deterministic Finite State Machine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8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1. Pending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</a:defRPr>
            </a:pPr>
            <a:r>
              <a:t>Actor: Customer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Deposit locked; awaiting dispatcher assign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645920"/>
            <a:ext cx="164592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50" b="1">
                <a:solidFill>
                  <a:srgbClr val="C084FC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2. Scheduled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</a:defRPr>
            </a:pPr>
            <a:r>
              <a:t>Actor: Dispatcher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Staff assigned; slot &amp; zone 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164592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3. En Route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</a:defRPr>
            </a:pPr>
            <a:r>
              <a:t>Actor: Technician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Technician departed; arrival SMS 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45920"/>
            <a:ext cx="164592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4. In Progress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</a:defRPr>
            </a:pPr>
            <a:r>
              <a:t>Actor: Technician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Tech on-site; work timer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164592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5. Completed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</a:defRPr>
            </a:pPr>
            <a:r>
              <a:t>Actor: Technician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Job finished; digital signature captured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645920"/>
            <a:ext cx="164592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 r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6. Billed</a:t>
            </a:r>
          </a:p>
          <a:p>
            <a:pPr>
              <a:spcBef>
                <a:spcPts val="800"/>
              </a:spcBef>
              <a:defRPr sz="950" b="1">
                <a:solidFill>
                  <a:srgbClr val="38BDF8"/>
                </a:solidFill>
              </a:defRPr>
            </a:pPr>
            <a:r>
              <a:t>Actor: System Bot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Automated invoice generated &amp; settled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Feature 3: Skill-Based Dispatch &amp; Technician Mobile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9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Skill-Based Dispatching (UC-05)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6-Column Kanban Board representing the FSM pipeline</a:t>
            </a:r>
            <a:br/>
            <a:r>
              <a:t>• Technician skill taxonomy (Paint Buffing, Steam Sanitization, Diagnostics)</a:t>
            </a:r>
            <a:br/>
            <a:r>
              <a:t>• Automatic '✓ Skill Match' badge on assignment modal</a:t>
            </a:r>
            <a:br/>
            <a:r>
              <a:t>• Geographical zone proximity routing (Gulshan / Banani / Dhanmondi)</a:t>
            </a:r>
            <a:br/>
            <a:r>
              <a:t>• Real-time technician active workload indicator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Field Technician Mobile Portal (NFR-04)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390px mobile viewport frame with minimal wireframe aesthetics</a:t>
            </a:r>
            <a:br/>
            <a:r>
              <a:t>• Top Numbered Task Switcher Bar (Task 1, Task 2, Task 3)</a:t>
            </a:r>
            <a:br/>
            <a:r>
              <a:t>• 1-Tap Sequential Actions: 'Accept &amp; Start Trip' ➔ 'Arrived &amp; Start Timer'</a:t>
            </a:r>
            <a:br/>
            <a:r>
              <a:t>• Live on-site work duration stopwatch</a:t>
            </a:r>
            <a:br/>
            <a:r>
              <a:t>• HTML5 signature canvas for digital client sign-off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Feature 4: Automated CRM Alerts, Tax Invoices &amp;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10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Automated CRM Webhook Alerts (FR-05)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Event-driven SMS/WhatsApp alert dispatch to customer phone</a:t>
            </a:r>
            <a:br/>
            <a:r>
              <a:t>• Alert 1: Deposit Confirmed (Awaiting Dispatcher)</a:t>
            </a:r>
            <a:br/>
            <a:r>
              <a:t>• Alert 2: Staff Scheduled (Technician Assigned)</a:t>
            </a:r>
            <a:br/>
            <a:r>
              <a:t>• Alert 3: En Route ETA Update (~20 mins)</a:t>
            </a:r>
            <a:br/>
            <a:r>
              <a:t>• Alert 4: Completed &amp; Official Tax Invoice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Tax Invoices &amp; Analytics (FR-07, FR-08)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Autonomous billing settlement upon signature capture</a:t>
            </a:r>
            <a:br/>
            <a:r>
              <a:t>• Itemized Printable Tax Invoice Modal (INV-...)</a:t>
            </a:r>
            <a:br/>
            <a:r>
              <a:t>• Real-Time Revenue Pipeline in BDT (৳)</a:t>
            </a:r>
            <a:br/>
            <a:r>
              <a:t>• Technician Productivity Table (Utilization %, Active vs Completed)</a:t>
            </a:r>
            <a:br/>
            <a:r>
              <a:t>• Customer Feedback CSAT Rating (4.9 / 5.0 ★ • 98% Satisfaction)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Demonstration Walkthrough (5-Step Pipeline)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11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1: Clean Zero-Job Pipeline — 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Open /admin/dispatch to verify clean 0-job state ready for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7315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Step 2: Customer Booking (/book) — 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Select service, pick dynamic slot, pay 20% deposit via bKash/Nagad.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7315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Step 3: Dispatcher Assignment (/admin/dispatch) — 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Assign technician matching skill taxonomy &amp; zone. Moves to Scheduled.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59"/>
            <a:ext cx="10698480" cy="7315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Step 4: Mobile Execution (/tech/active-job) — 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Accept job, start trip (En Route), run work timer (In Progress), collect digital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7315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Step 5: Automated Invoicing &amp; Analytics (/admin/analytics) — 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Auto-settles to Billed, generates printable invoice, and updates revenue.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lIns="137160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Verification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365760"/>
            <a:ext cx="822960" cy="292608"/>
          </a:xfrm>
          <a:prstGeom prst="roundRect">
            <a:avLst/>
          </a:prstGeom>
          <a:solidFill>
            <a:srgbClr val="1D273C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Frontend &amp; UI</a:t>
            </a:r>
          </a:p>
          <a:p>
            <a:pPr>
              <a:spcBef>
                <a:spcPts val="1200"/>
              </a:spcBef>
              <a:defRPr sz="1050">
                <a:solidFill>
                  <a:srgbClr val="F1F5F9"/>
                </a:solidFill>
              </a:defRPr>
            </a:pPr>
            <a:r>
              <a:t>• Next.js 14 (App Router)</a:t>
            </a:r>
            <a:br/>
            <a:r>
              <a:t>• React 18 &amp; TypeScript</a:t>
            </a:r>
            <a:br/>
            <a:r>
              <a:t>• TailwindCSS &amp; Lucide Icons</a:t>
            </a:r>
            <a:br/>
            <a:r>
              <a:t>• Responsive 390px Mobile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Backend &amp; Logic</a:t>
            </a:r>
          </a:p>
          <a:p>
            <a:pPr>
              <a:spcBef>
                <a:spcPts val="1200"/>
              </a:spcBef>
              <a:defRPr sz="1050">
                <a:solidFill>
                  <a:srgbClr val="F1F5F9"/>
                </a:solidFill>
              </a:defRPr>
            </a:pPr>
            <a:r>
              <a:t>• PostgreSQL / Supabase Schema</a:t>
            </a:r>
            <a:br/>
            <a:r>
              <a:t>• Finite State Machine Engine</a:t>
            </a:r>
            <a:br/>
            <a:r>
              <a:t>• Dynamic Slot Algorithm</a:t>
            </a:r>
            <a:br/>
            <a:r>
              <a:t>• Webhook REST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State Management</a:t>
            </a:r>
          </a:p>
          <a:p>
            <a:pPr>
              <a:spcBef>
                <a:spcPts val="1200"/>
              </a:spcBef>
              <a:defRPr sz="1050">
                <a:solidFill>
                  <a:srgbClr val="F1F5F9"/>
                </a:solidFill>
              </a:defRPr>
            </a:pPr>
            <a:r>
              <a:t>• Reactive Context Store (store.tsx)</a:t>
            </a:r>
            <a:br/>
            <a:r>
              <a:t>• LocalStorage persistence</a:t>
            </a:r>
            <a:br/>
            <a:r>
              <a:t>• Zero third-party runtime failure</a:t>
            </a:r>
            <a:br/>
            <a:r>
              <a:t>• Offline &amp; Vercel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 rIns="22860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Production Verification</a:t>
            </a:r>
          </a:p>
          <a:p>
            <a:pPr>
              <a:spcBef>
                <a:spcPts val="1200"/>
              </a:spcBef>
              <a:defRPr sz="1050">
                <a:solidFill>
                  <a:srgbClr val="F1F5F9"/>
                </a:solidFill>
              </a:defRPr>
            </a:pPr>
            <a:r>
              <a:t>• npm run build: 12/12 routes</a:t>
            </a:r>
            <a:br/>
            <a:r>
              <a:t>• 0 Build &amp; 0 Type Errors</a:t>
            </a:r>
            <a:br/>
            <a:r>
              <a:t>• 100% SRS-2 Compliance</a:t>
            </a:r>
            <a:br/>
            <a:r>
              <a:t>• Pushed to GitHub (main)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365760"/>
          </a:xfrm>
          <a:prstGeom prst="roundRect">
            <a:avLst/>
          </a:prstGeom>
          <a:solidFill>
            <a:srgbClr val="1D273C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PROJECT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2560320"/>
          </a:xfrm>
          <a:prstGeom prst="roundRect">
            <a:avLst/>
          </a:prstGeom>
          <a:solidFill>
            <a:srgbClr val="161D2D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KEY TAKEAWAYS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100% compliance with SRS-2 scopes, use cases (UC-01 to UC-09), and functional requirements (FR-01 to FR-08).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Successfully eliminates double-bookings, customer no-shows, and revenue leakage.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Developed iteratively following Agile Scrum across 4 two-week sprint milestones.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Fully deployable on Vercel with zero external database setup barriers.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