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day faculty and peers. We present Group H's Software Engineering project: Agentic Operations and Dynamic Scheduling Platform for Field Services, developed under the supervision of Sourav Akib Sarkar.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field operations, over 60% of time is wasted due to fragmented communication. Double bookings, customer no-shows after travel, blind dispatching, and manual revenue leakage are the 4 core problems we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platform connects three dedicated portals into a synchronized real-time system: Customer booking with deposits, Operations Dispatch Kanban, and Field Technician mobile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our SRS, we define 3 human login personas and 1 automated system actor: the AI Scheduling Agent that autonomously evaluates calendar states, enforces race condition locks, and settles invoices.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adopted the Scrum framework to build this system iteratively. Product backlog items were derived directly from SRS requirements and delivered in 4 two-week sprint increments.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Sprint 1 through 4, we transitioned from database architecture to slot calculations, then to the dispatch Kanban and mobile portal, and finally to automated CRM alerts, invoicing, and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slot engine evaluates operating hours and service duration with a 15-minute buffer. Transactional locks prevent double bookings, and the 20% deposit secures customer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state engine enforces strict linear progression: Pending, Scheduled, En Route, In Progress, Completed, Billed. Illegal state jumps are strictly rejected by the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Dispatchers assign technicians matching service skills and location zones. Technicians execute jobs on their mobile portal with task switching, on-site timer, and client signature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CRM webhook engine sends live SMS updates. Upon signature capture, tax invoices are auto-generated and operational analytics track gross pipeline revenue and technician utilization.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will switch to our live browser window at localhost:3000 to demonstrate the full 5-step lifecycle.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platform is built with Next.js 14, TypeScript, and TailwindCSS. The production build passed with zero errors across all 12 routes.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our platform successfully achieves all goals set out in our SRS. Thank you, and we now welcome any questions from the honorable faculty.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5120640" cy="411480"/>
          </a:xfrm>
          <a:prstGeom prst="roundRect">
            <a:avLst/>
          </a:prstGeom>
          <a:solidFill>
            <a:srgbClr val="1D27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AIUB • SOFTWARE ENGINEERING (SECTION: DD • GROUP: 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700" b="1">
                <a:solidFill>
                  <a:srgbClr val="FFFFFF"/>
                </a:solidFill>
              </a:defRPr>
            </a:pPr>
            <a:r>
              <a:t>Agentic Operations &amp; Dynamic</a:t>
            </a:r>
            <a:br/>
            <a:r>
              <a:t>Scheduling Platform for Field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8BDF8"/>
                </a:solidFill>
              </a:defRPr>
            </a:pPr>
            <a:r>
              <a:t>Eliminating Double-Bookings, Customer No-Shows &amp; Revenue Leakage via Deterministic State Automation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4114800" cy="1920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27432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SUPERVISED BY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Sourav Akib Sarkar</a:t>
            </a:r>
          </a:p>
          <a:p>
            <a:pPr>
              <a:spcBef>
                <a:spcPts val="400"/>
              </a:spcBef>
              <a:defRPr sz="1200">
                <a:solidFill>
                  <a:srgbClr val="A0AFC3"/>
                </a:solidFill>
              </a:defRPr>
            </a:pPr>
            <a:r>
              <a:t>Faculty of Science &amp; Technology</a:t>
            </a:r>
            <a:br/>
            <a:r>
              <a:t>Dept. of Computer Science, AIUB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297680"/>
            <a:ext cx="6309360" cy="1920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 lIns="27432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DEVELOPMENT TEAM (GROUP H)</a:t>
            </a:r>
          </a:p>
          <a:p>
            <a:pPr>
              <a:spcBef>
                <a:spcPts val="250"/>
              </a:spcBef>
              <a:defRPr sz="1250">
                <a:solidFill>
                  <a:srgbClr val="F1F5F9"/>
                </a:solidFill>
              </a:defRPr>
            </a:pPr>
            <a:r>
              <a:t>1. Abrar Tajwar Khan (24-57356-2)</a:t>
            </a:r>
          </a:p>
          <a:p>
            <a:pPr>
              <a:spcBef>
                <a:spcPts val="250"/>
              </a:spcBef>
              <a:defRPr sz="1250">
                <a:solidFill>
                  <a:srgbClr val="F1F5F9"/>
                </a:solidFill>
              </a:defRPr>
            </a:pPr>
            <a:r>
              <a:t>2. Ahmed Aahan Addin (24-57325-2)</a:t>
            </a:r>
          </a:p>
          <a:p>
            <a:pPr>
              <a:spcBef>
                <a:spcPts val="250"/>
              </a:spcBef>
              <a:defRPr sz="1250">
                <a:solidFill>
                  <a:srgbClr val="F1F5F9"/>
                </a:solidFill>
              </a:defRPr>
            </a:pPr>
            <a:r>
              <a:t>3. Lasker Sifwat Hossein (24-57368-2)</a:t>
            </a:r>
          </a:p>
          <a:p>
            <a:pPr>
              <a:spcBef>
                <a:spcPts val="250"/>
              </a:spcBef>
              <a:defRPr sz="1250">
                <a:solidFill>
                  <a:srgbClr val="F1F5F9"/>
                </a:solidFill>
              </a:defRPr>
            </a:pPr>
            <a:r>
              <a:t>4. Sadnan Shahad (24-57524-2)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The Real-World Operational Dilemma in Field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 rIns="320040"/>
          <a:lstStyle/>
          <a:p>
            <a:pPr algn="ctr">
              <a:defRPr sz="1100" b="1">
                <a:solidFill>
                  <a:srgbClr val="FB7185"/>
                </a:solidFill>
              </a:defRPr>
            </a:pPr>
            <a:r>
              <a:t>PROBLEM 01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Double-Booking &amp; Schedule Collisions</a:t>
            </a:r>
          </a:p>
          <a:p>
            <a:pPr>
              <a:spcBef>
                <a:spcPts val="700"/>
              </a:spcBef>
              <a:defRPr sz="1250">
                <a:solidFill>
                  <a:srgbClr val="F1F5F9"/>
                </a:solidFill>
              </a:defRPr>
            </a:pPr>
            <a:r>
              <a:t>Manual phone calls &amp; Excel sheets cause simultaneous overlapping customer bookings, unoptimized schedule gaps, and technician idle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 rIns="320040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PROBLEM 02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High Customer No-Show Rates</a:t>
            </a:r>
          </a:p>
          <a:p>
            <a:pPr>
              <a:spcBef>
                <a:spcPts val="700"/>
              </a:spcBef>
              <a:defRPr sz="1250">
                <a:solidFill>
                  <a:srgbClr val="F1F5F9"/>
                </a:solidFill>
              </a:defRPr>
            </a:pPr>
            <a:r>
              <a:t>Without upfront financial commitment, customers cancel last-minute after technicians spend over an hour traveling through Dhaka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 rIns="32004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PROBLEM 03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Blind Resource Dispatching</a:t>
            </a:r>
          </a:p>
          <a:p>
            <a:pPr>
              <a:spcBef>
                <a:spcPts val="700"/>
              </a:spcBef>
              <a:defRPr sz="1250">
                <a:solidFill>
                  <a:srgbClr val="F1F5F9"/>
                </a:solidFill>
              </a:defRPr>
            </a:pPr>
            <a:r>
              <a:t>Operations managers lack real-time visibility into technician skill specialties, active availability, and geographic zone buffers.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 rIns="320040"/>
          <a:lstStyle/>
          <a:p>
            <a:pPr algn="ctr">
              <a:defRPr sz="1100" b="1">
                <a:solidFill>
                  <a:srgbClr val="C084FC"/>
                </a:solidFill>
              </a:defRPr>
            </a:pPr>
            <a:r>
              <a:t>PROBLEM 04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Manual Revenue Leakage</a:t>
            </a:r>
          </a:p>
          <a:p>
            <a:pPr>
              <a:spcBef>
                <a:spcPts val="700"/>
              </a:spcBef>
              <a:defRPr sz="1250">
                <a:solidFill>
                  <a:srgbClr val="F1F5F9"/>
                </a:solidFill>
              </a:defRPr>
            </a:pPr>
            <a:r>
              <a:t>Delayed paper billing, unrecorded cash balances, and lack of verified proof-of-work lead to disputed invoices and lost revenue.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System Solution: 3 Portals + 1 Autonomous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3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rIns="32004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/book • /track</a:t>
            </a:r>
          </a:p>
          <a:p>
            <a:pPr>
              <a:spcBef>
                <a:spcPts val="400"/>
              </a:spcBef>
              <a:defRPr sz="1650" b="1">
                <a:solidFill>
                  <a:srgbClr val="FFFFFF"/>
                </a:solidFill>
              </a:defRPr>
            </a:pPr>
            <a:r>
              <a:t>Customer Portal</a:t>
            </a:r>
          </a:p>
          <a:p>
            <a:pPr>
              <a:spcBef>
                <a:spcPts val="1400"/>
              </a:spcBef>
              <a:defRPr sz="1300">
                <a:solidFill>
                  <a:srgbClr val="F1F5F9"/>
                </a:solidFill>
              </a:defRPr>
            </a:pPr>
            <a:r>
              <a:t>• Dynamic 30-min slot calendar</a:t>
            </a:r>
            <a:br/>
            <a:r>
              <a:t>• 15-minute travel buffers</a:t>
            </a:r>
            <a:br/>
            <a:r>
              <a:t>• 20% upfront deposit checkout (bKash)</a:t>
            </a:r>
            <a:br/>
            <a:r>
              <a:t>• Real-time progress &amp; SMS alert stream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290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rIns="320040"/>
          <a:lstStyle/>
          <a:p>
            <a:pPr algn="ctr">
              <a:defRPr sz="1100" b="1">
                <a:solidFill>
                  <a:srgbClr val="C084FC"/>
                </a:solidFill>
              </a:defRPr>
            </a:pPr>
            <a:r>
              <a:t>/admin/dispatch</a:t>
            </a:r>
          </a:p>
          <a:p>
            <a:pPr>
              <a:spcBef>
                <a:spcPts val="400"/>
              </a:spcBef>
              <a:defRPr sz="1650" b="1">
                <a:solidFill>
                  <a:srgbClr val="FFFFFF"/>
                </a:solidFill>
              </a:defRPr>
            </a:pPr>
            <a:r>
              <a:t>Operations Dispatcher</a:t>
            </a:r>
          </a:p>
          <a:p>
            <a:pPr>
              <a:spcBef>
                <a:spcPts val="1400"/>
              </a:spcBef>
              <a:defRPr sz="1300">
                <a:solidFill>
                  <a:srgbClr val="F1F5F9"/>
                </a:solidFill>
              </a:defRPr>
            </a:pPr>
            <a:r>
              <a:t>• 6-Column Kanban visual pipeline</a:t>
            </a:r>
            <a:br/>
            <a:r>
              <a:t>• Skill-based staff allocation</a:t>
            </a:r>
            <a:br/>
            <a:r>
              <a:t>• Dhaka zone proximity matching</a:t>
            </a:r>
            <a:br/>
            <a:r>
              <a:t>• Concurrency lock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00200"/>
            <a:ext cx="34290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 rIns="32004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/tech/active-job</a:t>
            </a:r>
          </a:p>
          <a:p>
            <a:pPr>
              <a:spcBef>
                <a:spcPts val="400"/>
              </a:spcBef>
              <a:defRPr sz="1650" b="1">
                <a:solidFill>
                  <a:srgbClr val="FFFFFF"/>
                </a:solidFill>
              </a:defRPr>
            </a:pPr>
            <a:r>
              <a:t>Field Technician Portal</a:t>
            </a:r>
          </a:p>
          <a:p>
            <a:pPr>
              <a:spcBef>
                <a:spcPts val="1400"/>
              </a:spcBef>
              <a:defRPr sz="1300">
                <a:solidFill>
                  <a:srgbClr val="F1F5F9"/>
                </a:solidFill>
              </a:defRPr>
            </a:pPr>
            <a:r>
              <a:t>• 390px responsive mobile layout</a:t>
            </a:r>
            <a:br/>
            <a:r>
              <a:t>• Top numbered task switcher</a:t>
            </a:r>
            <a:br/>
            <a:r>
              <a:t>• Live on-site work duration stopwatch</a:t>
            </a:r>
            <a:br/>
            <a:r>
              <a:t>• HTML5 digital client signature sign-off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ACTORS &amp;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System Actors &amp; Role Responsibilities (SRS Alignment)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4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 rIns="32004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HUMAN ACTOR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Customer (Tanvir Ahmed)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Initiates service requests (UC-01)</a:t>
            </a:r>
            <a:br/>
            <a:r>
              <a:t>• Pays upfront deposit online (US-02)</a:t>
            </a:r>
            <a:br/>
            <a:r>
              <a:t>• Tracks real-time status &amp; ETA (UC-02)</a:t>
            </a:r>
            <a:br/>
            <a:r>
              <a:t>• Accesses historical receipts (UC-03)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 rIns="32004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HUMAN ACTOR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Field Technician (Kazi Shakil)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Receives assigned tasks on mobile</a:t>
            </a:r>
            <a:br/>
            <a:r>
              <a:t>• Advances linear states (UC-06)</a:t>
            </a:r>
            <a:br/>
            <a:r>
              <a:t>• Navigates &amp; runs work timer</a:t>
            </a:r>
            <a:br/>
            <a:r>
              <a:t>• Collects digital sign-offs (NFR-04)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 rIns="320040"/>
          <a:lstStyle/>
          <a:p>
            <a:pPr algn="ctr">
              <a:defRPr sz="1100" b="1">
                <a:solidFill>
                  <a:srgbClr val="C084FC"/>
                </a:solidFill>
              </a:defRPr>
            </a:pPr>
            <a:r>
              <a:t>HUMAN ACTOR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Admin / Dispatcher (Tajwar Hossain)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Matches staff by skill &amp; zone (UC-05)</a:t>
            </a:r>
            <a:br/>
            <a:r>
              <a:t>• Manages Kanban pipeline (US-05)</a:t>
            </a:r>
            <a:br/>
            <a:r>
              <a:t>• Inspects tax invoices &amp; revenue (UC-08)</a:t>
            </a:r>
            <a:br/>
            <a:r>
              <a:t>• Monitors productivity &amp; CSAT (UC-09)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166360" cy="21488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01168" rIns="320040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SYSTEM ACTOR (4th)</a:t>
            </a:r>
          </a:p>
          <a:p>
            <a:pPr>
              <a:spcBef>
                <a:spcPts val="300"/>
              </a:spcBef>
              <a:defRPr sz="1550" b="1">
                <a:solidFill>
                  <a:srgbClr val="FFFFFF"/>
                </a:solidFill>
              </a:defRPr>
            </a:pPr>
            <a:r>
              <a:t>AI Scheduling Agent (System Worker)</a:t>
            </a:r>
          </a:p>
          <a:p>
            <a:pPr>
              <a:spcBef>
                <a:spcPts val="600"/>
              </a:spcBef>
              <a:defRPr sz="1200">
                <a:solidFill>
                  <a:srgbClr val="F1F5F9"/>
                </a:solidFill>
              </a:defRPr>
            </a:pPr>
            <a:r>
              <a:t>• Computes conflict-free slots (UC-04)</a:t>
            </a:r>
            <a:br/>
            <a:r>
              <a:t>• Enforces concurrency locks (FR-03)</a:t>
            </a:r>
            <a:br/>
            <a:r>
              <a:t>• Dispatches CRM webhook alerts (UC-07)</a:t>
            </a:r>
            <a:br/>
            <a:r>
              <a:t>• Auto-settles final tax invoices (FR-07)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Software Engineering Methodology: Agile Scrum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5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2400" b="1">
                <a:solidFill>
                  <a:srgbClr val="34D399"/>
                </a:solidFill>
              </a:defRPr>
            </a:pPr>
            <a:r>
              <a:t>01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</a:defRPr>
            </a:pPr>
            <a:r>
              <a:t>Why Scrum?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Iterative delivery across 4 sprints, continuous requirement traceability against SRS-2, and frequent UI/UX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</a:defRPr>
            </a:pPr>
            <a:r>
              <a:t>Product Backlog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Structured user stories directly mapped to functional requirements FR-01 through FR-08 with clear acceptance criteria.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2400" b="1">
                <a:solidFill>
                  <a:srgbClr val="C084FC"/>
                </a:solidFill>
              </a:defRPr>
            </a:pPr>
            <a:r>
              <a:t>03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</a:defRPr>
            </a:pPr>
            <a:r>
              <a:t>Sprint Ceremonies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Conducted bi-weekly Sprint Planning, daily peer standups, sprint reviews, and retrospective code audits.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2400" b="1">
                <a:solidFill>
                  <a:srgbClr val="FBBF24"/>
                </a:solidFill>
              </a:defRPr>
            </a:pPr>
            <a:r>
              <a:t>04</a:t>
            </a:r>
          </a:p>
          <a:p>
            <a:pPr>
              <a:spcBef>
                <a:spcPts val="800"/>
              </a:spcBef>
              <a:defRPr sz="1600" b="1">
                <a:solidFill>
                  <a:srgbClr val="FFFFFF"/>
                </a:solidFill>
              </a:defRPr>
            </a:pPr>
            <a:r>
              <a:t>Quality &amp; Velocity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Monitored burndown, enforced zero build/lint errors (npm run build), and validated 100% route health.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SCRUM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4-Sprint Incremental Lifecycle Breakdown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6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28600" rIns="201168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Sprint 1 (Weeks 1-2)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Architecture &amp; Schema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SRS requirements analysis</a:t>
            </a:r>
            <a:br/>
            <a:r>
              <a:t>• PostgreSQL schema DDL</a:t>
            </a:r>
            <a:br/>
            <a:r>
              <a:t>• RoleGuard RBAC &amp; auth</a:t>
            </a:r>
            <a:br/>
            <a:r>
              <a:t>• Next.js 14 + Tailwind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28600" rIns="201168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Sprint 2 (Weeks 3-4)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Slot Engine &amp; Booking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Pure TypeScript algorithm</a:t>
            </a:r>
            <a:br/>
            <a:r>
              <a:t>• 30-min window evaluation</a:t>
            </a:r>
            <a:br/>
            <a:r>
              <a:t>• 15-min prep/travel buffers</a:t>
            </a:r>
            <a:br/>
            <a:r>
              <a:t>• 20% deposit checkout wizard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28600" rIns="201168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Sprint 3 (Weeks 5-6)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FSM &amp; Field Mobile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Linear FSM state validator</a:t>
            </a:r>
            <a:br/>
            <a:r>
              <a:t>• 6-Column Dispatch Kanban</a:t>
            </a:r>
            <a:br/>
            <a:r>
              <a:t>• Skill &amp; zone staff matching</a:t>
            </a:r>
            <a:br/>
            <a:r>
              <a:t>• 390px Mobile + Signature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28600" rIns="201168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Sprint 4 (Weeks 7-8)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CRM &amp; Invoicing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Automated CRM alert stream</a:t>
            </a:r>
            <a:br/>
            <a:r>
              <a:t>• Autonomous tax invoicing</a:t>
            </a:r>
            <a:br/>
            <a:r>
              <a:t>• Revenue &amp; CSAT analytics</a:t>
            </a:r>
            <a:br/>
            <a:r>
              <a:t>• Production build verification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CORE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Feature 1: Dynamic Slot Engine &amp; Concurrency Locking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7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34D399"/>
                </a:solidFill>
              </a:defRPr>
            </a:pPr>
            <a:r>
              <a:t>Algorithmic Slot Calculation (FR-02)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Operates over business hours: 8:00 AM – 6:00 PM</a:t>
            </a:r>
            <a:br/>
            <a:r>
              <a:t>• Generates 30-minute start time candidates</a:t>
            </a:r>
            <a:br/>
            <a:r>
              <a:t>• Evaluates exact service duration (45 to 180 mins)</a:t>
            </a:r>
            <a:br/>
            <a:r>
              <a:t>• Appends mandatory 15-minute travel &amp; prep buffer</a:t>
            </a:r>
            <a:br/>
            <a:r>
              <a:t>• Filters past slots dynamically for same-day bookings</a:t>
            </a:r>
            <a:br/>
            <a:r>
              <a:t>• Matches technician capacity in real-time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t>Concurrency Locking &amp; Deposit (FR-03, FR-06)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Overlap Condition: (Start &lt; BookEnd) AND (End &gt; BookStart)</a:t>
            </a:r>
            <a:br/>
            <a:r>
              <a:t>• Database transactional locking eliminates race conditions</a:t>
            </a:r>
            <a:br/>
            <a:r>
              <a:t>• 20% Upfront Deposit Gateway (bKash / Nagad / Card)</a:t>
            </a:r>
            <a:br/>
            <a:r>
              <a:t>• Eliminates customer no-shows through financial lock</a:t>
            </a:r>
            <a:br/>
            <a:r>
              <a:t>• Creates immutable booking record in 'Pending' state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CORE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Feature 2: Deterministic Finite State Machine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8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1. Pending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Customer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Deposit locked; awaiting dispatcher assign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C084FC"/>
                </a:solidFill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2. Scheduled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Dispatcher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Staff assigned; slot &amp; zone locked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3. En Route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Technician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Technician departed; arrival SMS 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59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4. In Progress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Technician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Tech on-site; work timer running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STEP 5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5. Completed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Technician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Job finished; digital signature captured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1600200"/>
            <a:ext cx="164592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82880" rIns="137160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STEP 6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6. Billed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Actor: System Bot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Automated invoice generated &amp; settled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CORE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Feature 3: Skill-Based Dispatch &amp; Technician Mobile 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9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C084FC"/>
                </a:solidFill>
              </a:defRPr>
            </a:pPr>
            <a:r>
              <a:t>Skill-Based Dispatching (UC-05)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6-Column Kanban Board representing the FSM pipeline</a:t>
            </a:r>
            <a:br/>
            <a:r>
              <a:t>• Technician skill taxonomy (Paint Buffing, Steam Sanitization)</a:t>
            </a:r>
            <a:br/>
            <a:r>
              <a:t>• Automatic '✓ Skill Match' badge on assignment modal</a:t>
            </a:r>
            <a:br/>
            <a:r>
              <a:t>• Geographical zone proximity routing (Gulshan / Banani)</a:t>
            </a:r>
            <a:br/>
            <a:r>
              <a:t>• Real-time technician active workload indicator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38BDF8"/>
                </a:solidFill>
              </a:defRPr>
            </a:pPr>
            <a:r>
              <a:t>Field Technician Mobile Portal (NFR-04)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390px mobile viewport frame with minimal wireframe styling</a:t>
            </a:r>
            <a:br/>
            <a:r>
              <a:t>• Top Numbered Task Switcher Bar (Task 1, Task 2, Task 3)</a:t>
            </a:r>
            <a:br/>
            <a:r>
              <a:t>• 1-Tap Sequential Actions: 'Accept Trip' ➔ 'Start Timer'</a:t>
            </a:r>
            <a:br/>
            <a:r>
              <a:t>• Live on-site work duration stopwatch</a:t>
            </a:r>
            <a:br/>
            <a:r>
              <a:t>• HTML5 signature canvas for digital client sign-off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CORE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Feature 4: Automated CRM Alerts, Tax Invoices &amp;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10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16636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34D399"/>
                </a:solidFill>
              </a:defRPr>
            </a:pPr>
            <a:r>
              <a:t>Automated CRM Webhook Alerts (FR-05)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Event-driven SMS/WhatsApp alert dispatch to customer phone</a:t>
            </a:r>
            <a:br/>
            <a:r>
              <a:t>• Alert 1: Deposit Confirmed (Awaiting Dispatcher)</a:t>
            </a:r>
            <a:br/>
            <a:r>
              <a:t>• Alert 2: Staff Scheduled (Technician Assigned)</a:t>
            </a:r>
            <a:br/>
            <a:r>
              <a:t>• Alert 3: En Route ETA Update (~20 mins)</a:t>
            </a:r>
            <a:br/>
            <a:r>
              <a:t>• Alert 4: Completed &amp; Official Tax Invoice 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74320"/>
          <a:lstStyle/>
          <a:p>
            <a:pPr algn="ctr">
              <a:defRPr sz="1650" b="1">
                <a:solidFill>
                  <a:srgbClr val="FBBF24"/>
                </a:solidFill>
              </a:defRPr>
            </a:pPr>
            <a:r>
              <a:t>Tax Invoices &amp; Analytics (FR-07, FR-08)</a:t>
            </a:r>
          </a:p>
          <a:p>
            <a:pPr>
              <a:spcBef>
                <a:spcPts val="1200"/>
              </a:spcBef>
              <a:defRPr sz="1300">
                <a:solidFill>
                  <a:srgbClr val="F1F5F9"/>
                </a:solidFill>
              </a:defRPr>
            </a:pPr>
            <a:r>
              <a:t>• Autonomous billing settlement upon signature capture</a:t>
            </a:r>
            <a:br/>
            <a:r>
              <a:t>• Itemized Printable Tax Invoice Modal (INV-...)</a:t>
            </a:r>
            <a:br/>
            <a:r>
              <a:t>• Real-Time Revenue Pipeline in BDT (৳)</a:t>
            </a:r>
            <a:br/>
            <a:r>
              <a:t>• Technician Productivity Table (Utilization %, Active vs Completed)</a:t>
            </a:r>
            <a:br/>
            <a:r>
              <a:t>• Customer Feedback CSAT Rating (4.9 / 5.0 ★ • 98% CSAT)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Live Demonstration Walkthrough (5-Step Pipeline)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11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10698480" cy="777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/>
          <a:lstStyle/>
          <a:p>
            <a:pPr algn="ctr">
              <a:defRPr sz="1350" b="1">
                <a:solidFill>
                  <a:srgbClr val="38BDF8"/>
                </a:solidFill>
              </a:defRPr>
            </a:pPr>
            <a:r>
              <a:t>Step 1: Clean Zero-Job Pipeline — 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Open /admin/dispatch to verify clean 0-job state ready for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96312"/>
            <a:ext cx="10698480" cy="777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/>
          <a:lstStyle/>
          <a:p>
            <a:pPr algn="ctr">
              <a:defRPr sz="1350" b="1">
                <a:solidFill>
                  <a:srgbClr val="34D399"/>
                </a:solidFill>
              </a:defRPr>
            </a:pPr>
            <a:r>
              <a:t>Step 2: Customer Booking (/book) — 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Select service, pick dynamic slot, pay 20% deposit via bKash/Nagad.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92424"/>
            <a:ext cx="10698480" cy="777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/>
          <a:lstStyle/>
          <a:p>
            <a:pPr algn="ctr">
              <a:defRPr sz="1350" b="1">
                <a:solidFill>
                  <a:srgbClr val="C084FC"/>
                </a:solidFill>
              </a:defRPr>
            </a:pPr>
            <a:r>
              <a:t>Step 3: Dispatcher Assignment (/admin/dispatch) — 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Assign technician matching skill taxonomy &amp; zone. Moves to Scheduled.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88536"/>
            <a:ext cx="10698480" cy="777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/>
          <a:lstStyle/>
          <a:p>
            <a:pPr algn="ctr">
              <a:defRPr sz="1350" b="1">
                <a:solidFill>
                  <a:srgbClr val="FBBF24"/>
                </a:solidFill>
              </a:defRPr>
            </a:pPr>
            <a:r>
              <a:t>Step 4: Mobile Execution (/tech/active-job) — 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Accept job, start trip (En Route), run work timer (In Progress), collect digital signature.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84648"/>
            <a:ext cx="10698480" cy="77724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46304"/>
          <a:lstStyle/>
          <a:p>
            <a:pPr algn="ctr">
              <a:defRPr sz="1350" b="1">
                <a:solidFill>
                  <a:srgbClr val="34D399"/>
                </a:solidFill>
              </a:defRPr>
            </a:pPr>
            <a:r>
              <a:t>Step 5: Automated Invoicing &amp; Analytics (/admin/analytics) — </a:t>
            </a:r>
          </a:p>
          <a:p>
            <a:pPr>
              <a:defRPr sz="1200">
                <a:solidFill>
                  <a:srgbClr val="F1F5F9"/>
                </a:solidFill>
              </a:defRPr>
            </a:pPr>
            <a:r>
              <a:t>Auto-settles to Billed, generates printable invoice, and updates revenue.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621792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lIns="164592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Technology Stack &amp; Verification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914400" cy="320040"/>
          </a:xfrm>
          <a:prstGeom prst="roundRect">
            <a:avLst/>
          </a:prstGeom>
          <a:solidFill>
            <a:srgbClr val="1D273C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/>
          <a:lstStyle/>
          <a:p>
            <a:pPr algn="ctr">
              <a:defRPr sz="1100" b="1">
                <a:solidFill>
                  <a:srgbClr val="A0AFC3"/>
                </a:solidFill>
              </a:defRPr>
            </a:pPr>
            <a:r>
              <a:t>12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Frontend &amp; UI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• Next.js 14 (App Router)</a:t>
            </a:r>
            <a:br/>
            <a:r>
              <a:t>• React 18 &amp; TypeScript</a:t>
            </a:r>
            <a:br/>
            <a:r>
              <a:t>• TailwindCSS &amp; Lucide</a:t>
            </a:r>
            <a:br/>
            <a:r>
              <a:t>• 390px Mobile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1600" b="1">
                <a:solidFill>
                  <a:srgbClr val="C084FC"/>
                </a:solidFill>
              </a:defRPr>
            </a:pPr>
            <a:r>
              <a:t>Backend &amp; Logic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• PostgreSQL Schema DDL</a:t>
            </a:r>
            <a:br/>
            <a:r>
              <a:t>• Finite State Machine</a:t>
            </a:r>
            <a:br/>
            <a:r>
              <a:t>• Dynamic Slot Algorithm</a:t>
            </a:r>
            <a:br/>
            <a:r>
              <a:t>• Webhook REST Endpoints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1600" b="1">
                <a:solidFill>
                  <a:srgbClr val="FBBF24"/>
                </a:solidFill>
              </a:defRPr>
            </a:pPr>
            <a:r>
              <a:t>State &amp; Store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• Reactive Context Store</a:t>
            </a:r>
            <a:br/>
            <a:r>
              <a:t>• LocalStorage persistence</a:t>
            </a:r>
            <a:br/>
            <a:r>
              <a:t>• Zero 3rd-Party Failure</a:t>
            </a:r>
            <a:br/>
            <a:r>
              <a:t>• Offline / Vercel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4805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74320" rIns="22860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Verification</a:t>
            </a:r>
          </a:p>
          <a:p>
            <a:pPr>
              <a:spcBef>
                <a:spcPts val="1200"/>
              </a:spcBef>
              <a:defRPr sz="1250">
                <a:solidFill>
                  <a:srgbClr val="F1F5F9"/>
                </a:solidFill>
              </a:defRPr>
            </a:pPr>
            <a:r>
              <a:t>• npm run build: 12/12 routes</a:t>
            </a:r>
            <a:br/>
            <a:r>
              <a:t>• 0 Build &amp; 0 Type Errors</a:t>
            </a:r>
            <a:br/>
            <a:r>
              <a:t>• 100% SRS-2 Compliance</a:t>
            </a:r>
            <a:br/>
            <a:r>
              <a:t>• GitHub main branch synced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840480" cy="384048"/>
          </a:xfrm>
          <a:prstGeom prst="roundRect">
            <a:avLst/>
          </a:prstGeom>
          <a:solidFill>
            <a:srgbClr val="1D27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PROJECT SUMMARY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FFFFF"/>
                </a:solidFill>
              </a:defRPr>
            </a:pPr>
            <a:r>
              <a:t>Thank You!</a:t>
            </a:r>
            <a:br/>
            <a:r>
              <a:t>Questions &amp; 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29000"/>
            <a:ext cx="10698480" cy="2651760"/>
          </a:xfrm>
          <a:prstGeom prst="roundRect">
            <a:avLst/>
          </a:prstGeom>
          <a:solidFill>
            <a:srgbClr val="161D2D"/>
          </a:solidFill>
          <a:ln>
            <a:solidFill>
              <a:srgbClr val="2D3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56032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KEY TAKEAWAYS</a:t>
            </a:r>
          </a:p>
          <a:p>
            <a:pPr>
              <a:spcBef>
                <a:spcPts val="500"/>
              </a:spcBef>
              <a:defRPr sz="1350">
                <a:solidFill>
                  <a:srgbClr val="F1F5F9"/>
                </a:solidFill>
              </a:defRPr>
            </a:pPr>
            <a:r>
              <a:t>✔ 100% compliance with SRS-2 scopes, use cases (UC-01 to UC-09), and functional requirements (FR-01 to FR-08).</a:t>
            </a:r>
          </a:p>
          <a:p>
            <a:pPr>
              <a:spcBef>
                <a:spcPts val="500"/>
              </a:spcBef>
              <a:defRPr sz="1350">
                <a:solidFill>
                  <a:srgbClr val="F1F5F9"/>
                </a:solidFill>
              </a:defRPr>
            </a:pPr>
            <a:r>
              <a:t>✔ Successfully eliminates double-bookings, customer no-shows, and manual revenue leakage.</a:t>
            </a:r>
          </a:p>
          <a:p>
            <a:pPr>
              <a:spcBef>
                <a:spcPts val="500"/>
              </a:spcBef>
              <a:defRPr sz="1350">
                <a:solidFill>
                  <a:srgbClr val="F1F5F9"/>
                </a:solidFill>
              </a:defRPr>
            </a:pPr>
            <a:r>
              <a:t>✔ Developed iteratively following Agile Scrum framework across 4 two-week sprint milestones.</a:t>
            </a:r>
          </a:p>
          <a:p>
            <a:pPr>
              <a:spcBef>
                <a:spcPts val="500"/>
              </a:spcBef>
              <a:defRPr sz="1350">
                <a:solidFill>
                  <a:srgbClr val="F1F5F9"/>
                </a:solidFill>
              </a:defRPr>
            </a:pPr>
            <a:r>
              <a:t>✔ Production-verified and deployable on Vercel with zero external database barriers.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